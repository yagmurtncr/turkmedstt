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8" r:id="rId5"/>
    <p:sldId id="260" r:id="rId6"/>
    <p:sldId id="261" r:id="rId7"/>
    <p:sldId id="259" r:id="rId8"/>
    <p:sldId id="270" r:id="rId9"/>
    <p:sldId id="262" r:id="rId10"/>
    <p:sldId id="263" r:id="rId11"/>
    <p:sldId id="264" r:id="rId12"/>
    <p:sldId id="267" r:id="rId13"/>
    <p:sldId id="271" r:id="rId14"/>
    <p:sldId id="265" r:id="rId15"/>
    <p:sldId id="266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19" autoAdjust="0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79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81328"/>
            <a:ext cx="457200" cy="10972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ÜNİVERSİTESİ · BİLGİSAYAR MÜHENDİSLİĞİ · BİTİRME PROJESİ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1057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TurkMedSTT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CD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Tıbbi Konuşma Tanıma için Sentetik Veri Destekli Alan Uyarlaması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4160520"/>
            <a:ext cx="4754880" cy="0"/>
          </a:xfrm>
          <a:prstGeom prst="line">
            <a:avLst/>
          </a:prstGeom>
          <a:noFill/>
          <a:ln w="19050">
            <a:solidFill>
              <a:srgbClr val="3E8C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66928" y="42976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9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Hazırlayanlar
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Kumcu  ·  Nur Yağmur Tuncer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512064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9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
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Doç. Dr. Ayşe Berna Altınel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MOTİVASYON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03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ve Araştırma Sorusu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0432" y="156362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kaynaklı dil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70432" y="1911096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tr-TR" sz="13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Türkçe sondan eklemeli bir dil, kelimeler ek alıp uzuyor; üstelik açık, etiketli Türkçe tıbbi konuşma derlemi pratikte yok. </a:t>
            </a:r>
            <a:endParaRPr lang="en-US" sz="13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66928" y="2807208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66928" y="28072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70432" y="27706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Tıbbi terminoloji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70432" y="3118104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tr-TR" sz="13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Klinik konuşmada Latince/Yunanca terimler, ilaç jenerik adları ve kısaltmalar yoğun; genel modeller tam bu terimlerde çok daha fazla hata yapıyor.</a:t>
            </a:r>
            <a:endParaRPr lang="en-US" sz="13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" y="4014216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66928" y="40142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70432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Gizlilik kısıtı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70432" y="432511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hasta sesi gizlilik ve erişim nedeniyle kullanılamaz; alternatif veri yolu gerekir.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903720" y="1600200"/>
            <a:ext cx="4718304" cy="3611880"/>
          </a:xfrm>
          <a:prstGeom prst="roundRect">
            <a:avLst>
              <a:gd name="adj" fmla="val 2025"/>
            </a:avLst>
          </a:prstGeom>
          <a:solidFill>
            <a:srgbClr val="E8F4F3"/>
          </a:solidFill>
          <a:ln w="12700">
            <a:solidFill>
              <a:srgbClr val="CFE0D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6903720" y="1600200"/>
            <a:ext cx="109728" cy="36118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7223760" y="18745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ARAŞTIRMA SORUSU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23760" y="2286000"/>
            <a:ext cx="4114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i="1" dirty="0">
                <a:solidFill>
                  <a:srgbClr val="303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Gerçek hasta verisi olmadan, sentetik (TTS) tıbbi konuşmayla yapılan LoRA uyarlaması; gerçek konuşmadaki zor tıbbi terimlerin tanınmasını, genel Türkçe başarımı bozmadan iyileştirebilir mi?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TurkMedSTT · Bitirme Projesi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03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Çalışma Takvimi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2558720" cy="3200400"/>
          </a:xfrm>
          <a:prstGeom prst="roundRect">
            <a:avLst>
              <a:gd name="adj" fmla="val 2859"/>
            </a:avLst>
          </a:prstGeom>
          <a:solidFill>
            <a:srgbClr val="E8F4F3"/>
          </a:solidFill>
          <a:ln w="12700">
            <a:solidFill>
              <a:srgbClr val="CFE0D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544536" y="2267712"/>
            <a:ext cx="603504" cy="603504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544536" y="226771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2971800"/>
            <a:ext cx="237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3273552"/>
            <a:ext cx="237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03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Literatür Taraması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22295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tanımı, ASR temel modelleri ve PEFT/LoRA yöntemlerinin incelenmesi.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99968" y="2011680"/>
            <a:ext cx="2558720" cy="3200400"/>
          </a:xfrm>
          <a:prstGeom prst="roundRect">
            <a:avLst>
              <a:gd name="adj" fmla="val 2859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377576" y="2267712"/>
            <a:ext cx="603504" cy="603504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377576" y="226771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91408" y="2971800"/>
            <a:ext cx="237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2.–3. 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91408" y="3273552"/>
            <a:ext cx="237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03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ve Benchmark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4560" y="3840480"/>
            <a:ext cx="22295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Türkçe veri temizliği, medv3 sentetik korpus üretimi, 29 modellik benchmark.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33008" y="2011680"/>
            <a:ext cx="2558720" cy="3200400"/>
          </a:xfrm>
          <a:prstGeom prst="roundRect">
            <a:avLst>
              <a:gd name="adj" fmla="val 2859"/>
            </a:avLst>
          </a:prstGeom>
          <a:solidFill>
            <a:srgbClr val="E8F4F3"/>
          </a:solidFill>
          <a:ln w="12700">
            <a:solidFill>
              <a:srgbClr val="CFE0D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7210615" y="2267712"/>
            <a:ext cx="603504" cy="603504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7210615" y="226771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24448" y="2971800"/>
            <a:ext cx="237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4.–5. ay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24448" y="3273552"/>
            <a:ext cx="237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03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Eğitim ve Ablasyon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97600" y="3840480"/>
            <a:ext cx="22295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ince ayarı, M0/M1/M2 kontrollü ablasyonu, çok eksenli değerlendirme.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66047" y="2011680"/>
            <a:ext cx="2558720" cy="3200400"/>
          </a:xfrm>
          <a:prstGeom prst="roundRect">
            <a:avLst>
              <a:gd name="adj" fmla="val 2859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10043655" y="2267712"/>
            <a:ext cx="603504" cy="60350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10043655" y="226771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57487" y="2971800"/>
            <a:ext cx="237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57487" y="3273552"/>
            <a:ext cx="237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03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Doğrulama ve Yayın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30639" y="3840480"/>
            <a:ext cx="22295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Gerçek-ses doğrulama, açık kaynak yayın (Hugging Face), </a:t>
            </a:r>
            <a:r>
              <a:rPr lang="tr-TR" sz="125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raporu</a:t>
            </a:r>
            <a:r>
              <a:rPr lang="en-US" sz="125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yazımı.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143936" y="2267712"/>
            <a:ext cx="237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976976" y="2267712"/>
            <a:ext cx="237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810015" y="2267712"/>
            <a:ext cx="237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66928" y="553212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6 aylık süreçte; literatür, veri, model ve yayın aşamaları birbirini izledi.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TurkMedSTT · Bitirme Projesi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9D8F"/>
                </a:solidFill>
                <a:latin typeface="Calibri"/>
              </a:rPr>
              <a:t>LİTERATÜR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0393B"/>
                </a:solidFill>
                <a:latin typeface="Georgia"/>
              </a:rPr>
              <a:t>İlgili Çalışmalar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44752"/>
            <a:ext cx="3502152" cy="1755648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 w="12700">
            <a:solidFill>
              <a:srgbClr val="CF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00584" cy="17556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A9D8F"/>
                </a:solidFill>
                <a:latin typeface="Calibri"/>
              </a:rPr>
              <a:t>ASR temel modelleri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84832"/>
            <a:ext cx="295351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F6E70"/>
                </a:solidFill>
                <a:latin typeface="Calibri"/>
              </a:rPr>
              <a:t>Whisper, wav2vec 2.0, HuBERT, Conformer ve SeamlessM4T: çok dilli, kendi-kendine denetimli güçlü temel modeller.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44752"/>
            <a:ext cx="3502152" cy="1755648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 w="12700">
            <a:solidFill>
              <a:srgbClr val="CF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444752"/>
            <a:ext cx="100584" cy="17556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5152" y="1627632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A9D8F"/>
                </a:solidFill>
                <a:latin typeface="Calibri"/>
              </a:rPr>
              <a:t>Türkçe / çok dilli veri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084832"/>
            <a:ext cx="295351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F6E70"/>
                </a:solidFill>
                <a:latin typeface="Calibri"/>
              </a:rPr>
              <a:t>Common Voice, FLEURS, ISSAI Türkçe Derlemi (218 saat), Mukayese ve MediaSpeech.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1" y="1444752"/>
            <a:ext cx="3502152" cy="1755648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 w="12700">
            <a:solidFill>
              <a:srgbClr val="CF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19871" y="1444752"/>
            <a:ext cx="100584" cy="17556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21624" y="1627632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A9D8F"/>
                </a:solidFill>
                <a:latin typeface="Calibri"/>
              </a:rPr>
              <a:t>Parametre-verimli ince ayar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1624" y="2084832"/>
            <a:ext cx="295351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F6E70"/>
                </a:solidFill>
                <a:latin typeface="Calibri"/>
              </a:rPr>
              <a:t>Adapter, LoRA, QLoRA: modeli dondurup küçük ek parametre eğitir; unutmayı azaltır, ucuzdur.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73552"/>
            <a:ext cx="3502152" cy="1755648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 w="12700">
            <a:solidFill>
              <a:srgbClr val="CF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928" y="3273552"/>
            <a:ext cx="100584" cy="17556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456432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A9D8F"/>
                </a:solidFill>
                <a:latin typeface="Calibri"/>
              </a:rPr>
              <a:t>Medikal / klinik ASR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13632"/>
            <a:ext cx="295351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F6E70"/>
                </a:solidFill>
                <a:latin typeface="Calibri"/>
              </a:rPr>
              <a:t>Chiu vd. (2018): terimlerde başarı, gündelik konuşmada hata. Genel WER tek başına klinik uygunluğu ölçmez.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273552"/>
            <a:ext cx="3502152" cy="1755648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 w="12700">
            <a:solidFill>
              <a:srgbClr val="CF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43400" y="3273552"/>
            <a:ext cx="100584" cy="17556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45152" y="3456432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A9D8F"/>
                </a:solidFill>
                <a:latin typeface="Calibri"/>
              </a:rPr>
              <a:t>TTS ile veri artırma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3913632"/>
            <a:ext cx="295351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F6E70"/>
                </a:solidFill>
                <a:latin typeface="Calibri"/>
              </a:rPr>
              <a:t>Rosenberg (2019), Joshi &amp; Singh (2022) vb.: sentetik veri terim kapsamını artırır; gerçek-ses açığı kalır → doğrulama şart.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9871" y="3273552"/>
            <a:ext cx="3502152" cy="1755648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 w="12700">
            <a:solidFill>
              <a:srgbClr val="CF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19871" y="3273552"/>
            <a:ext cx="100584" cy="17556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21624" y="3456432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A9D8F"/>
                </a:solidFill>
                <a:latin typeface="Calibri"/>
              </a:rPr>
              <a:t>Değerlendirme ölçütleri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3913632"/>
            <a:ext cx="295351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F6E70"/>
                </a:solidFill>
                <a:latin typeface="Calibri"/>
              </a:rPr>
              <a:t>WER/CER, terim recall, BERTScore, konuşmadan duygu tanıma (SER), Jensen-Shannon: yüzeysel doğruluğun ötesi.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248656"/>
            <a:ext cx="11055096" cy="749808"/>
          </a:xfrm>
          <a:prstGeom prst="roundRect">
            <a:avLst>
              <a:gd name="adj" fmla="val 6000"/>
            </a:avLst>
          </a:prstGeom>
          <a:solidFill>
            <a:srgbClr val="F4F9F8"/>
          </a:solidFill>
          <a:ln w="12700">
            <a:solidFill>
              <a:srgbClr val="CF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66928" y="5248656"/>
            <a:ext cx="109728" cy="74980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7" y="5248656"/>
            <a:ext cx="10506456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76F51"/>
                </a:solidFill>
                <a:latin typeface="Calibri"/>
              </a:rPr>
              <a:t>Boşluk: </a:t>
            </a:r>
            <a:r>
              <a:rPr sz="1350" b="0">
                <a:solidFill>
                  <a:srgbClr val="30393B"/>
                </a:solidFill>
                <a:latin typeface="Calibri"/>
              </a:rPr>
              <a:t>Türkçe tıbbi alanda kontrollü ablasyon + açık veri + terim/anlamsal değerlendirme bir arada eksikti. Bu tez tam bu boşluğu dolduruyor.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F6E70"/>
                </a:solidFill>
                <a:latin typeface="Calibri"/>
              </a:rPr>
              <a:t>TurkMedSTT · Bitirme Projesi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E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03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Kümeleri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Türkçe havuz (3 açık kaynak)</a:t>
            </a:r>
            <a:endParaRPr lang="en-US" sz="1500" dirty="0"/>
          </a:p>
        </p:txBody>
      </p:sp>
      <p:pic>
        <p:nvPicPr>
          <p:cNvPr id="5" name="Image 0" descr="C:\Users\Tombulteke\Desktop\turkmedSTT\_thesis_build\slide_assets\deck_datase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1828800"/>
            <a:ext cx="5760720" cy="3154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0292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Voice + ISSAI + OpenSLR · titiz temizleme + 16 kHz mono standardı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53766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308.008 </a:t>
            </a:r>
            <a:r>
              <a:rPr lang="en-US" sz="15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246.574 klip </a:t>
            </a:r>
            <a:r>
              <a:rPr lang="en-US" sz="15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(~292,6 saat)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83680" y="1481328"/>
            <a:ext cx="5029200" cy="4297680"/>
          </a:xfrm>
          <a:prstGeom prst="roundRect">
            <a:avLst>
              <a:gd name="adj" fmla="val 1702"/>
            </a:avLst>
          </a:prstGeom>
          <a:solidFill>
            <a:srgbClr val="E8F4F3"/>
          </a:solidFill>
          <a:ln w="12700">
            <a:solidFill>
              <a:srgbClr val="CFE0D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681228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03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medv3 — Sentetik Tıbbi Korpus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81228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Chirp3-HD ile sentez · açıkça synthetic=true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12280" y="25146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E0D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6812280" y="262432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809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681228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benzersiz klinik cümle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144000" y="25146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E0D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9144000" y="262432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3.236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914400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 klibi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812280" y="3538728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E0D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5"/>
          <p:cNvSpPr/>
          <p:nvPr/>
        </p:nvSpPr>
        <p:spPr>
          <a:xfrm>
            <a:off x="6812280" y="364845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5,72 s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6812280" y="40873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ses süresi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144000" y="3538728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E0D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8"/>
          <p:cNvSpPr/>
          <p:nvPr/>
        </p:nvSpPr>
        <p:spPr>
          <a:xfrm>
            <a:off x="9144000" y="364845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500" dirty="0"/>
          </a:p>
        </p:txBody>
      </p:sp>
      <p:sp>
        <p:nvSpPr>
          <p:cNvPr id="22" name="Text 19"/>
          <p:cNvSpPr/>
          <p:nvPr/>
        </p:nvSpPr>
        <p:spPr>
          <a:xfrm>
            <a:off x="9144000" y="40873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alan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812280" y="4562856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E0D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1"/>
          <p:cNvSpPr/>
          <p:nvPr/>
        </p:nvSpPr>
        <p:spPr>
          <a:xfrm>
            <a:off x="6812280" y="4672584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500" dirty="0"/>
          </a:p>
        </p:txBody>
      </p:sp>
      <p:sp>
        <p:nvSpPr>
          <p:cNvPr id="25" name="Text 22"/>
          <p:cNvSpPr/>
          <p:nvPr/>
        </p:nvSpPr>
        <p:spPr>
          <a:xfrm>
            <a:off x="6812280" y="511149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ses kimliği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9144000" y="4562856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E0D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4"/>
          <p:cNvSpPr/>
          <p:nvPr/>
        </p:nvSpPr>
        <p:spPr>
          <a:xfrm>
            <a:off x="9144000" y="4672584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</a:t>
            </a:r>
            <a:endParaRPr lang="en-US" sz="2500" dirty="0"/>
          </a:p>
        </p:txBody>
      </p:sp>
      <p:sp>
        <p:nvSpPr>
          <p:cNvPr id="28" name="Text 25"/>
          <p:cNvSpPr/>
          <p:nvPr/>
        </p:nvSpPr>
        <p:spPr>
          <a:xfrm>
            <a:off x="9144000" y="511149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 WAV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TurkMedSTT · Bitirme Projesi 2026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MODEL SEÇİMİ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03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Geniş ASR Benchmark</a:t>
            </a:r>
            <a:endParaRPr lang="en-US" sz="3000" dirty="0"/>
          </a:p>
        </p:txBody>
      </p:sp>
      <p:pic>
        <p:nvPicPr>
          <p:cNvPr id="4" name="Image 0" descr="C:\Users\Tombulteke\Desktop\turkmedSTT\_thesis_build\slide_assets\deck_benchmar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1554480"/>
            <a:ext cx="704088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1691640"/>
            <a:ext cx="3803904" cy="4114800"/>
          </a:xfrm>
          <a:prstGeom prst="roundRect">
            <a:avLst>
              <a:gd name="adj" fmla="val 1923"/>
            </a:avLst>
          </a:prstGeom>
          <a:solidFill>
            <a:srgbClr val="E8F4F3"/>
          </a:solidFill>
          <a:ln w="12700">
            <a:solidFill>
              <a:srgbClr val="CFE0D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8046720" y="1874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03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Nasıl seçildi?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0" y="2286000"/>
            <a:ext cx="3246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aday model, ortak 1.060 genel Türkçe klip, tek protokol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Ölçütler: WER · CER · RTF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whisper-large-v3 en düşük WER: 0,1363 → ince ayar omurgası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model teknik nedenlerle elendi; şeffaf biçimde raporlandı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TurkMedSTT · Bitirme Projesi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03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Kontrollü Ablasyon Tasarımı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95528" y="1554480"/>
            <a:ext cx="106006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model:  </a:t>
            </a:r>
            <a:r>
              <a:rPr lang="en-US" sz="1600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Whisper-large-v3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(~1,5 milyar parametre · çok dilli)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423160"/>
            <a:ext cx="3442106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9AA7A7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566928" y="2423160"/>
            <a:ext cx="3442106" cy="640080"/>
          </a:xfrm>
          <a:prstGeom prst="roundRect">
            <a:avLst>
              <a:gd name="adj" fmla="val 11429"/>
            </a:avLst>
          </a:prstGeom>
          <a:solidFill>
            <a:srgbClr val="9AA7A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566928" y="2743200"/>
            <a:ext cx="3442106" cy="320040"/>
          </a:xfrm>
          <a:prstGeom prst="rect">
            <a:avLst/>
          </a:prstGeom>
          <a:solidFill>
            <a:srgbClr val="9AA7A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66928" y="2468880"/>
            <a:ext cx="34421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58368" y="3200400"/>
            <a:ext cx="32592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298490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 ince ayar yok</a:t>
            </a:r>
            <a:endParaRPr lang="en-US" sz="130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 karşılaştırma çizgisi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74794" y="2423160"/>
            <a:ext cx="3442106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374794" y="2423160"/>
            <a:ext cx="3442106" cy="640080"/>
          </a:xfrm>
          <a:prstGeom prst="roundRect">
            <a:avLst>
              <a:gd name="adj" fmla="val 11429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374794" y="2743200"/>
            <a:ext cx="3442106" cy="3200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374794" y="2468880"/>
            <a:ext cx="34421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466234" y="3200400"/>
            <a:ext cx="32592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Türkçe LoRA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30826" y="3657600"/>
            <a:ext cx="298490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~140 saat dengeli genel Türkçe</a:t>
            </a:r>
            <a:endParaRPr lang="en-US" sz="130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dil uyarlamasının etkisi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82661" y="2423160"/>
            <a:ext cx="3442106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  <a:effectLst>
            <a:outerShdw blurRad="76200" dist="25400" dir="5400000" algn="bl" rotWithShape="0">
              <a:srgbClr val="BBBBBB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8182661" y="2423160"/>
            <a:ext cx="3442106" cy="640080"/>
          </a:xfrm>
          <a:prstGeom prst="roundRect">
            <a:avLst>
              <a:gd name="adj" fmla="val 11429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8182661" y="2743200"/>
            <a:ext cx="3442106" cy="32004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8182661" y="2468880"/>
            <a:ext cx="34421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274101" y="3200400"/>
            <a:ext cx="32592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+ Medikal LoRA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38693" y="3657600"/>
            <a:ext cx="298490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+ medv3 sentetik (3× upsample)</a:t>
            </a:r>
            <a:endParaRPr lang="en-US" sz="130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Medikal alan katkısının ölçümü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512064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E8F4F3"/>
          </a:solidFill>
          <a:ln w="12700">
            <a:solidFill>
              <a:srgbClr val="CFE0D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795528" y="5120640"/>
            <a:ext cx="10600639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değişken = eğitim verisi.  </a:t>
            </a:r>
            <a:r>
              <a:rPr lang="en-US" sz="1550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temel model, aynı LoRA yapılandırması, aynı protokol → gözlenen medikal kazanım yalnızca alan verisine atfedilebilir.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TurkMedSTT · Bitirme Projesi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9D8F"/>
                </a:solidFill>
                <a:latin typeface="Calibri"/>
              </a:rPr>
              <a:t>YÖNTEM · DEĞERLENDİRME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0393B"/>
                </a:solidFill>
                <a:latin typeface="Georgia"/>
              </a:rPr>
              <a:t>Değerlendirme Setleri ve Protokol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54480"/>
          <a:ext cx="676656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Set</a:t>
                      </a:r>
                    </a:p>
                  </a:txBody>
                  <a:tcPr marL="76200" marR="76200" marT="38100" marB="38100" anchor="ctr"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İçerik</a:t>
                      </a:r>
                    </a:p>
                  </a:txBody>
                  <a:tcPr marL="76200" marR="76200" marT="38100" marB="38100" anchor="ctr"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Amaç</a:t>
                      </a:r>
                    </a:p>
                  </a:txBody>
                  <a:tcPr marL="76200" marR="76200" marT="38100" marB="38100" anchor="ctr"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A9D8F"/>
                          </a:solidFill>
                          <a:latin typeface="Calibri"/>
                        </a:rPr>
                        <a:t>Genel Türkçe</a:t>
                      </a:r>
                    </a:p>
                  </a:txBody>
                  <a:tcPr marL="76200" marR="76200" marT="38100" marB="38100" anchor="ctr"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0393B"/>
                          </a:solidFill>
                          <a:latin typeface="Calibri"/>
                        </a:rPr>
                        <a:t>320 gerçek, medikalsiz klip</a:t>
                      </a:r>
                    </a:p>
                  </a:txBody>
                  <a:tcPr marL="76200" marR="76200" marT="38100" marB="38100" anchor="ctr"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0393B"/>
                          </a:solidFill>
                          <a:latin typeface="Calibri"/>
                        </a:rPr>
                        <a:t>Genel dil yeteneği / regresyon kontrolü</a:t>
                      </a:r>
                    </a:p>
                  </a:txBody>
                  <a:tcPr marL="76200" marR="76200" marT="38100" marB="38100" anchor="ctr">
                    <a:solidFill>
                      <a:srgbClr val="F4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A9D8F"/>
                          </a:solidFill>
                          <a:latin typeface="Calibri"/>
                        </a:rPr>
                        <a:t>Sentetik medikal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0393B"/>
                          </a:solidFill>
                          <a:latin typeface="Calibri"/>
                        </a:rPr>
                        <a:t>332 medv3 doğrulama klibi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0393B"/>
                          </a:solidFill>
                          <a:latin typeface="Calibri"/>
                        </a:rPr>
                        <a:t>Alan-içi üst sınır (eğitimde görüldü)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A9D8F"/>
                          </a:solidFill>
                          <a:latin typeface="Calibri"/>
                        </a:rPr>
                        <a:t>Gerçek-ses (40 cümle)</a:t>
                      </a:r>
                    </a:p>
                  </a:txBody>
                  <a:tcPr marL="76200" marR="76200" marT="38100" marB="38100" anchor="ctr"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0393B"/>
                          </a:solidFill>
                          <a:latin typeface="Calibri"/>
                        </a:rPr>
                        <a:t>3 konuşmacı · 120 klip</a:t>
                      </a:r>
                    </a:p>
                  </a:txBody>
                  <a:tcPr marL="76200" marR="76200" marT="38100" marB="38100" anchor="ctr"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0393B"/>
                          </a:solidFill>
                          <a:latin typeface="Calibri"/>
                        </a:rPr>
                        <a:t>Gerçek konuşmaya transfer</a:t>
                      </a:r>
                    </a:p>
                  </a:txBody>
                  <a:tcPr marL="76200" marR="76200" marT="38100" marB="38100" anchor="ctr">
                    <a:solidFill>
                      <a:srgbClr val="F4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A9D8F"/>
                          </a:solidFill>
                          <a:latin typeface="Calibri"/>
                        </a:rPr>
                        <a:t>Zor-terim v2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0393B"/>
                          </a:solidFill>
                          <a:latin typeface="Calibri"/>
                        </a:rPr>
                        <a:t>3 konuşmacı · 516 klip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0393B"/>
                          </a:solidFill>
                          <a:latin typeface="Calibri"/>
                        </a:rPr>
                        <a:t>Zor tıbbi terim tanıma — ana kanıt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498079" y="1554480"/>
            <a:ext cx="4114800" cy="4297680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 w="12700">
            <a:solidFill>
              <a:srgbClr val="CF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79" y="1554480"/>
            <a:ext cx="100584" cy="42976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99831" y="1755648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76F51"/>
                </a:solidFill>
                <a:latin typeface="Calibri"/>
              </a:rPr>
              <a:t>Metrikler ve eşleşme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27263" y="2267712"/>
            <a:ext cx="3547872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50" b="0">
                <a:solidFill>
                  <a:srgbClr val="5F6E70"/>
                </a:solidFill>
                <a:latin typeface="Calibri"/>
              </a:rPr>
              <a:t>•  WER (kelime), CER (karakter), tıbbi terim recall.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50" b="0">
                <a:solidFill>
                  <a:srgbClr val="5F6E70"/>
                </a:solidFill>
                <a:latin typeface="Calibri"/>
              </a:rPr>
              <a:t>•  Terim recall: diyakritik-toleranslı, kök/önek eşleşmesi; fonetik harf hatası koruma sayılmaz.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50" b="0">
                <a:solidFill>
                  <a:srgbClr val="5F6E70"/>
                </a:solidFill>
                <a:latin typeface="Calibri"/>
              </a:rPr>
              <a:t>•  Tüm setlerde Türkçe dil yönlendirmesi (language=tr).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50" b="0">
                <a:solidFill>
                  <a:srgbClr val="5F6E70"/>
                </a:solidFill>
                <a:latin typeface="Calibri"/>
              </a:rPr>
              <a:t>•  İstatistik: M0–M2 farkı için eşleştirilmiş bootstrap.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50" b="0">
                <a:solidFill>
                  <a:srgbClr val="5F6E70"/>
                </a:solidFill>
                <a:latin typeface="Calibri"/>
              </a:rPr>
              <a:t>•  Gerçek-ses kayıtları gizlilik gereği yayımlanmadı; yalnız anonim toplu metrik.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F6E70"/>
                </a:solidFill>
                <a:latin typeface="Calibri"/>
              </a:rPr>
              <a:t>TurkMedSTT · Bitirme Projesi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E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 · KOD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03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 İnce Ayarı ve Kodlama Ortamı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yapılandırması (PEFT)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5760720" cy="2788920"/>
          </a:xfrm>
          <a:prstGeom prst="roundRect">
            <a:avLst>
              <a:gd name="adj" fmla="val 2623"/>
            </a:avLst>
          </a:prstGeom>
          <a:solidFill>
            <a:srgbClr val="F2F6F6"/>
          </a:solidFill>
          <a:ln w="12700">
            <a:solidFill>
              <a:srgbClr val="CFE0D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49808" y="1938528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03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peft import LoraConfig, get_peft_model</a:t>
            </a: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03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lora_config = LoraConfig(</a:t>
            </a: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03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r=64,</a:t>
            </a:r>
            <a:r>
              <a:rPr lang="tr-TR" sz="1250" dirty="0">
                <a:solidFill>
                  <a:srgbClr val="303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//ögrenme kapasitesi</a:t>
            </a: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03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lora_alpha=128,</a:t>
            </a:r>
            <a:r>
              <a:rPr lang="tr-TR" sz="1250" dirty="0">
                <a:solidFill>
                  <a:srgbClr val="303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//lora etkisi</a:t>
            </a: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03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target_modules=["q_proj", "v_proj"],</a:t>
            </a: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03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lora_dropout=0.05,</a:t>
            </a:r>
            <a:r>
              <a:rPr lang="tr-TR" sz="1250" dirty="0">
                <a:solidFill>
                  <a:srgbClr val="303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</a:t>
            </a:r>
            <a:r>
              <a:rPr lang="tr-TR" sz="1250" dirty="0" err="1">
                <a:solidFill>
                  <a:srgbClr val="303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overfitting</a:t>
            </a:r>
            <a:r>
              <a:rPr lang="tr-TR" sz="1250" dirty="0">
                <a:solidFill>
                  <a:srgbClr val="303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azaltması</a:t>
            </a: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03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bias="none",</a:t>
            </a:r>
            <a:r>
              <a:rPr lang="tr-TR" sz="1250" dirty="0">
                <a:solidFill>
                  <a:srgbClr val="303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//sadece lora parametreleri</a:t>
            </a: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03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03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get_peft_model(model, lora_config)</a:t>
            </a: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03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eğitilebilir: ~31,5M parametre (%2)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470916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 %2</a:t>
            </a:r>
            <a:r>
              <a:rPr lang="tr-TR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(31,5 milyon parametre)</a:t>
            </a: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parametre eğitilir; 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kalan ağırlıklar dondurulur → genel yetenek korunur.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810512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E8F4F3"/>
          </a:solidFill>
          <a:ln w="12700">
            <a:solidFill>
              <a:srgbClr val="CFE0DE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9" name="Text 7"/>
          <p:cNvSpPr/>
          <p:nvPr/>
        </p:nvSpPr>
        <p:spPr>
          <a:xfrm>
            <a:off x="681228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03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Kodlama Ortamı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12280" y="2423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 / çatı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12280" y="26791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PyTorch · Hugging Face Transformers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12280" y="3127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Kütüphaneler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12280" y="33832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(LoRA) · Datasets · librosa · jiwer · evaluate · soundfile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12280" y="38313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2280" y="40873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A100 GPU (Google Colab) · fp16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12280" y="45354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</a:t>
            </a: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bilgileri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12280" y="479145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</a:t>
            </a:r>
            <a:r>
              <a:rPr lang="tr-TR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etkin batch 16 · öğrenme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oranı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1e-4</a:t>
            </a:r>
            <a:r>
              <a:rPr lang="tr-TR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tr-TR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12280" y="5239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model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12280" y="549554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Whisper-large-v3 (~1,5 milyar parametre)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TurkMedSTT · Bitirme Projesi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03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Genel Türkçe ve Alan-İçi Sonuçlar</a:t>
            </a:r>
            <a:endParaRPr lang="en-US" sz="3000" dirty="0"/>
          </a:p>
        </p:txBody>
      </p:sp>
      <p:pic>
        <p:nvPicPr>
          <p:cNvPr id="4" name="Image 0" descr="C:\Users\Tombulteke\Desktop\turkmedSTT\_thesis_build\slide_assets\deck_gener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1691640"/>
            <a:ext cx="685800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303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gerçek, medikal olmayan klip · medikal uyarlama genel kazanımı bozmadı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726680" y="1783080"/>
            <a:ext cx="3895344" cy="841248"/>
          </a:xfrm>
          <a:prstGeom prst="roundRect">
            <a:avLst>
              <a:gd name="adj" fmla="val 8696"/>
            </a:avLst>
          </a:prstGeom>
          <a:solidFill>
            <a:srgbClr val="E8F4F3"/>
          </a:solidFill>
          <a:ln w="12700">
            <a:solidFill>
              <a:srgbClr val="CFE0D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7955280" y="1874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 0,1213 → 0,0792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955280" y="2258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ile %34,7 göreli azalma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26680" y="2752344"/>
            <a:ext cx="3895344" cy="841248"/>
          </a:xfrm>
          <a:prstGeom prst="roundRect">
            <a:avLst>
              <a:gd name="adj" fmla="val 8696"/>
            </a:avLst>
          </a:prstGeom>
          <a:solidFill>
            <a:srgbClr val="E8F4F3"/>
          </a:solidFill>
          <a:ln w="12700">
            <a:solidFill>
              <a:srgbClr val="CFE0D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7955280" y="284378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 0,0546 → 0,0226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955280" y="32278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%58,6 göreli azalma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26680" y="3721608"/>
            <a:ext cx="3895344" cy="841248"/>
          </a:xfrm>
          <a:prstGeom prst="roundRect">
            <a:avLst>
              <a:gd name="adj" fmla="val 8696"/>
            </a:avLst>
          </a:prstGeom>
          <a:solidFill>
            <a:srgbClr val="E8F4F3"/>
          </a:solidFill>
          <a:ln w="12700">
            <a:solidFill>
              <a:srgbClr val="CFE0D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7955280" y="38130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genel WER 0,0795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7955280" y="41970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kazanımı korundu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726680" y="4727448"/>
            <a:ext cx="3895344" cy="1325880"/>
          </a:xfrm>
          <a:prstGeom prst="roundRect">
            <a:avLst>
              <a:gd name="adj" fmla="val 5517"/>
            </a:avLst>
          </a:prstGeom>
          <a:solidFill>
            <a:srgbClr val="F4F9F8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7955280" y="4855464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Sentetik medikal (alan-içi): M2 recall 1,000
</a:t>
            </a:r>
            <a:r>
              <a:rPr lang="en-US" sz="12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küme eğitimde görüldü → üst sınır niteliğinde; gerçek başarımın yerine konmaz.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TurkMedSTT · Bitirme Projesi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II · ANA KANIT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03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Gerçek-Ses Zor-Terim Değerlendirmesi</a:t>
            </a:r>
            <a:endParaRPr lang="en-US" sz="3000" dirty="0"/>
          </a:p>
        </p:txBody>
      </p:sp>
      <p:pic>
        <p:nvPicPr>
          <p:cNvPr id="4" name="Image 0" descr="C:\Users\Tombulteke\Desktop\turkmedSTT\_thesis_build\slide_assets\deck_realvoi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1645920"/>
            <a:ext cx="704088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3492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gönüllü konuşmacı (k1/k2/k3, anonim) · 516 eşleştirilmiş gerçek klip · eğitimden farklı cümleler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772400" y="1335024"/>
            <a:ext cx="3849624" cy="4517136"/>
          </a:xfrm>
          <a:prstGeom prst="roundRect">
            <a:avLst>
              <a:gd name="adj" fmla="val 1900"/>
            </a:avLst>
          </a:prstGeom>
          <a:solidFill>
            <a:srgbClr val="E8F4F3"/>
          </a:solidFill>
          <a:ln w="12700">
            <a:solidFill>
              <a:srgbClr val="CFE0D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7772400" y="1353312"/>
            <a:ext cx="109728" cy="449884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8046720" y="1461565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03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M2 üç konuşmacıda da en iyi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183880" y="1827325"/>
            <a:ext cx="3291840" cy="297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konuşmacının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tamamında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</a:t>
            </a:r>
            <a:endParaRPr lang="tr-TR" sz="1300" dirty="0">
              <a:solidFill>
                <a:srgbClr val="5F6E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Medikal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terimleri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yakalamada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recall</a:t>
            </a:r>
            <a:endParaRPr lang="tr-TR" sz="1300" dirty="0">
              <a:solidFill>
                <a:srgbClr val="5F6E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azalması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K1 %16,0 · K2 %42,8 · K3 %19,8</a:t>
            </a:r>
            <a:endParaRPr lang="tr-TR" sz="1300" dirty="0">
              <a:solidFill>
                <a:srgbClr val="5F6E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recall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artışı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+6,5 / +8,6 / +7,5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M1’in M0’ı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geçememesi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kazanımın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Türkçeden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değil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medikal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veriden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geldiğini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gösterdi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tr-TR" sz="1300" dirty="0">
              <a:solidFill>
                <a:srgbClr val="5F6E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 &lt; 0,0001,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istatistiksel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olarak</a:t>
            </a:r>
            <a:r>
              <a:rPr lang="en-US" sz="13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anlamlı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46720" y="5029200"/>
            <a:ext cx="33832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8183880" y="5029200"/>
            <a:ext cx="3154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Birleşik bootstrap: </a:t>
            </a: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ΔWER 0,0203, p &lt; 0,0001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TurkMedSTT · Bitirme Projesi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9D8F"/>
                </a:solidFill>
                <a:latin typeface="Calibri"/>
              </a:rPr>
              <a:t>BULGULAR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0393B"/>
                </a:solidFill>
                <a:latin typeface="Georgia"/>
              </a:rPr>
              <a:t>Ek Analizler ve Doğrulayıcı Bulgular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45920"/>
            <a:ext cx="5394960" cy="2212848"/>
          </a:xfrm>
          <a:prstGeom prst="roundRect">
            <a:avLst>
              <a:gd name="adj" fmla="val 5000"/>
            </a:avLst>
          </a:prstGeom>
          <a:solidFill>
            <a:srgbClr val="E8F4F3"/>
          </a:solidFill>
          <a:ln w="12700">
            <a:solidFill>
              <a:srgbClr val="CF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645920"/>
            <a:ext cx="100584" cy="22128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4708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A9D8F"/>
                </a:solidFill>
                <a:latin typeface="Calibri"/>
              </a:rPr>
              <a:t>Klinik alan kapsamı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22576"/>
            <a:ext cx="4846320" cy="1344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5F6E70"/>
                </a:solidFill>
                <a:latin typeface="Calibri"/>
              </a:rPr>
              <a:t>M2, sentetik alan-içi değerlendirmede 20 klinik alanın 11'inde sıfır WER üretti. En büyük kazanımlar göğüs hastalıkları, endokrinoloji, kadın doğum, gastroenteroloji ve farmakolojide. Kazanım birkaç konuya değil, alanların geneline yayıldı (alan-içi üst sınır).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45920"/>
            <a:ext cx="5394960" cy="2212848"/>
          </a:xfrm>
          <a:prstGeom prst="roundRect">
            <a:avLst>
              <a:gd name="adj" fmla="val 5000"/>
            </a:avLst>
          </a:prstGeom>
          <a:solidFill>
            <a:srgbClr val="E8F4F3"/>
          </a:solidFill>
          <a:ln w="12700">
            <a:solidFill>
              <a:srgbClr val="CF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27064" y="1645920"/>
            <a:ext cx="100584" cy="22128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28816" y="184708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A9D8F"/>
                </a:solidFill>
                <a:latin typeface="Calibri"/>
              </a:rPr>
              <a:t>Tek epok kararlılığı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2322576"/>
            <a:ext cx="4846320" cy="1344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5F6E70"/>
                </a:solidFill>
                <a:latin typeface="Calibri"/>
              </a:rPr>
              <a:t>Checkpoint analizinde genel Türkçe WER tek epok boyunca platoya oturdu; aşırı öğrenme görülmedi. Son adapter, M1'in genel başarımını (0,0792) korudu. Bu bulgu, tek epok tercihini doğrular.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968496"/>
            <a:ext cx="5394960" cy="2212848"/>
          </a:xfrm>
          <a:prstGeom prst="roundRect">
            <a:avLst>
              <a:gd name="adj" fmla="val 5000"/>
            </a:avLst>
          </a:prstGeom>
          <a:solidFill>
            <a:srgbClr val="E8F4F3"/>
          </a:solidFill>
          <a:ln w="12700">
            <a:solidFill>
              <a:srgbClr val="CF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3968496"/>
            <a:ext cx="100584" cy="22128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169663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A9D8F"/>
                </a:solidFill>
                <a:latin typeface="Calibri"/>
              </a:rPr>
              <a:t>AcoSemantic-TR (anlamsal sadakat)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45152"/>
            <a:ext cx="4846320" cy="399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dirty="0">
                <a:solidFill>
                  <a:srgbClr val="5F6E70"/>
                </a:solidFill>
                <a:latin typeface="Calibri"/>
              </a:rPr>
              <a:t>WER/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CER'in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ötesinde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,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transkriptin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duyarlılık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ve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duygu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korunumu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ölçüldü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. İki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farklı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analiz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modeli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benzer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model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sıralaması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verdi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(0,9383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korelasyon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).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3968496"/>
            <a:ext cx="5394960" cy="2212848"/>
          </a:xfrm>
          <a:prstGeom prst="roundRect">
            <a:avLst>
              <a:gd name="adj" fmla="val 5000"/>
            </a:avLst>
          </a:prstGeom>
          <a:solidFill>
            <a:srgbClr val="E8F4F3"/>
          </a:solidFill>
          <a:ln w="12700">
            <a:solidFill>
              <a:srgbClr val="CF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27064" y="3968496"/>
            <a:ext cx="100584" cy="221284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28816" y="4169663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76F51"/>
                </a:solidFill>
                <a:latin typeface="Calibri"/>
              </a:rPr>
              <a:t>İstatistiksel anlamlılık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4645152"/>
            <a:ext cx="4846320" cy="603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dirty="0" err="1">
                <a:solidFill>
                  <a:srgbClr val="5F6E70"/>
                </a:solidFill>
                <a:latin typeface="Calibri"/>
              </a:rPr>
              <a:t>Eşleştirilmiş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bootstrap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ile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WER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farkı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üç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konuşmacıda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da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anlamlı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: k1 p=0,0076 · k2 p=0,0001 · k3 p=0,0063.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Kazanım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tek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konuşmacıya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veya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şansa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bağlı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5F6E70"/>
                </a:solidFill>
                <a:latin typeface="Calibri"/>
              </a:rPr>
              <a:t>değil</a:t>
            </a:r>
            <a:r>
              <a:rPr sz="1250" b="0" dirty="0">
                <a:solidFill>
                  <a:srgbClr val="5F6E70"/>
                </a:solidFill>
                <a:latin typeface="Calibr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F6E70"/>
                </a:solidFill>
                <a:latin typeface="Calibri"/>
              </a:rPr>
              <a:t>TurkMedSTT · Bitirme Projesi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E7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9D8F"/>
                </a:solidFill>
                <a:latin typeface="Calibri"/>
              </a:rPr>
              <a:t>TARTIŞMA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0393B"/>
                </a:solidFill>
                <a:latin typeface="Georgia"/>
              </a:rPr>
              <a:t>Sınırlamalar ve Gelecek Çalışmalar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5394960" cy="4434840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 w="12700">
            <a:solidFill>
              <a:srgbClr val="CF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100584" cy="4434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A9D8F"/>
                </a:solidFill>
                <a:latin typeface="Calibri"/>
              </a:rPr>
              <a:t>Sınırlamalar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67712"/>
            <a:ext cx="4828032" cy="13757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dirty="0">
                <a:solidFill>
                  <a:srgbClr val="5F6E70"/>
                </a:solidFill>
                <a:latin typeface="Calibri"/>
              </a:rPr>
              <a:t>• 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Sentetik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medv3,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doğal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klinik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konuşmanın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akustik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/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söylemsel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çeşitliliğini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tam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temsil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etmez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dirty="0">
                <a:solidFill>
                  <a:srgbClr val="5F6E70"/>
                </a:solidFill>
                <a:latin typeface="Calibri"/>
              </a:rPr>
              <a:t>•  v2</a:t>
            </a:r>
            <a:r>
              <a:rPr lang="tr-TR" sz="1200" dirty="0">
                <a:solidFill>
                  <a:srgbClr val="5F6E70"/>
                </a:solidFill>
                <a:latin typeface="Calibri"/>
              </a:rPr>
              <a:t> test veri setinde olan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3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gönüllü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ve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okuma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konuşması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;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klinik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nüfusu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temsil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etmez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dirty="0">
                <a:solidFill>
                  <a:srgbClr val="5F6E70"/>
                </a:solidFill>
                <a:latin typeface="Calibri"/>
              </a:rPr>
              <a:t>• 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Gerçek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hasta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verisi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ve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doğal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doktor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-hasta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diyaloğu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yok.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dirty="0">
                <a:solidFill>
                  <a:srgbClr val="5F6E70"/>
                </a:solidFill>
                <a:latin typeface="Calibri"/>
              </a:rPr>
              <a:t>• 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Olumsuzluk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,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doz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,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sayı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gibi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kritik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hatalar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klinisyence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derecelendirilmedi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554480"/>
            <a:ext cx="5394960" cy="4434840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 w="12700">
            <a:solidFill>
              <a:srgbClr val="CF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27064" y="1554480"/>
            <a:ext cx="100584" cy="44348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28816" y="175564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76F51"/>
                </a:solidFill>
                <a:latin typeface="Calibri"/>
              </a:rPr>
              <a:t>Gelecek Çalışmalar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267712"/>
            <a:ext cx="4828032" cy="1644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dirty="0">
                <a:solidFill>
                  <a:srgbClr val="5F6E70"/>
                </a:solidFill>
                <a:latin typeface="Calibri"/>
              </a:rPr>
              <a:t>• 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Etik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/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rıza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ile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geniş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gerçek-ses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verisi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: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farklı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bölge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,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yaş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,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mikrofon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,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doğal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dikte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dirty="0">
                <a:solidFill>
                  <a:srgbClr val="5F6E70"/>
                </a:solidFill>
                <a:latin typeface="Calibri"/>
              </a:rPr>
              <a:t>•  medv3'ü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farklı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TTS,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gürültü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/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kanal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benzetimi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ve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telaffuz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sözlükleriyle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genişletme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dirty="0">
                <a:solidFill>
                  <a:srgbClr val="5F6E70"/>
                </a:solidFill>
                <a:latin typeface="Calibri"/>
              </a:rPr>
              <a:t>• 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Farklı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LoRA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rank/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katman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/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epok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;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bağımsız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geliştirme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/test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kümesiyle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seçim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dirty="0">
                <a:solidFill>
                  <a:srgbClr val="5F6E70"/>
                </a:solidFill>
                <a:latin typeface="Calibri"/>
              </a:rPr>
              <a:t>•  Klinik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hata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sınıflandırması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(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ilaç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,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doz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,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olumsuzluk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) +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uzman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F6E70"/>
                </a:solidFill>
                <a:latin typeface="Calibri"/>
              </a:rPr>
              <a:t>derecelendirme</a:t>
            </a:r>
            <a:r>
              <a:rPr sz="1200" b="0" dirty="0">
                <a:solidFill>
                  <a:srgbClr val="5F6E70"/>
                </a:solidFill>
                <a:latin typeface="Calibri"/>
              </a:rPr>
              <a:t>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dirty="0">
                <a:solidFill>
                  <a:srgbClr val="5F6E70"/>
                </a:solidFill>
                <a:latin typeface="Calibri"/>
              </a:rPr>
              <a:t>•  Klinik </a:t>
            </a:r>
            <a:r>
              <a:rPr sz="1200" dirty="0" err="1">
                <a:solidFill>
                  <a:srgbClr val="5F6E70"/>
                </a:solidFill>
                <a:latin typeface="Calibri"/>
              </a:rPr>
              <a:t>prototipte</a:t>
            </a:r>
            <a:r>
              <a:rPr sz="120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F6E70"/>
                </a:solidFill>
                <a:latin typeface="Calibri"/>
              </a:rPr>
              <a:t>güven</a:t>
            </a:r>
            <a:r>
              <a:rPr sz="120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F6E70"/>
                </a:solidFill>
                <a:latin typeface="Calibri"/>
              </a:rPr>
              <a:t>skoru</a:t>
            </a:r>
            <a:r>
              <a:rPr sz="1200" dirty="0">
                <a:solidFill>
                  <a:srgbClr val="5F6E70"/>
                </a:solidFill>
                <a:latin typeface="Calibri"/>
              </a:rPr>
              <a:t>, </a:t>
            </a:r>
            <a:r>
              <a:rPr sz="1200" dirty="0" err="1">
                <a:solidFill>
                  <a:srgbClr val="5F6E70"/>
                </a:solidFill>
                <a:latin typeface="Calibri"/>
              </a:rPr>
              <a:t>düşük-güvenli</a:t>
            </a:r>
            <a:r>
              <a:rPr sz="120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F6E70"/>
                </a:solidFill>
                <a:latin typeface="Calibri"/>
              </a:rPr>
              <a:t>terim</a:t>
            </a:r>
            <a:r>
              <a:rPr sz="120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F6E70"/>
                </a:solidFill>
                <a:latin typeface="Calibri"/>
              </a:rPr>
              <a:t>işareti</a:t>
            </a:r>
            <a:r>
              <a:rPr sz="120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F6E70"/>
                </a:solidFill>
                <a:latin typeface="Calibri"/>
              </a:rPr>
              <a:t>ve</a:t>
            </a:r>
            <a:r>
              <a:rPr sz="120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F6E70"/>
                </a:solidFill>
                <a:latin typeface="Calibri"/>
              </a:rPr>
              <a:t>zorunlu</a:t>
            </a:r>
            <a:r>
              <a:rPr sz="120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F6E70"/>
                </a:solidFill>
                <a:latin typeface="Calibri"/>
              </a:rPr>
              <a:t>insan</a:t>
            </a:r>
            <a:r>
              <a:rPr sz="1200" dirty="0">
                <a:solidFill>
                  <a:srgbClr val="5F6E7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F6E70"/>
                </a:solidFill>
                <a:latin typeface="Calibri"/>
              </a:rPr>
              <a:t>onayı</a:t>
            </a:r>
            <a:r>
              <a:rPr sz="1200" dirty="0">
                <a:solidFill>
                  <a:srgbClr val="5F6E70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F6E70"/>
                </a:solidFill>
                <a:latin typeface="Calibri"/>
              </a:rPr>
              <a:t>TurkMedSTT · Bitirme Projesi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E7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57200" cy="10972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Sonuç ve Açık Kaynak Katkılar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2240280"/>
            <a:ext cx="5577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Kontrollü LoRA uyarlaması, genel Türkçe başarımını koruyarak gerçek konuşmadaki zor tıbbi terim tanımayı iyileştirdi.</a:t>
            </a:r>
            <a:endParaRPr lang="en-US" sz="15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Sentetik veriden öğrenilen alan bilgisi gerçek sese </a:t>
            </a:r>
            <a:r>
              <a:rPr lang="en-US" sz="1500" dirty="0" err="1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aktarıldı</a:t>
            </a:r>
            <a:r>
              <a:rPr lang="tr-TR" sz="15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Sınır: sistem tıbbi cihaz değildir; tanı/tedavi veya klinik karar için kullanılamaz.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221224" cy="4160520"/>
          </a:xfrm>
          <a:prstGeom prst="roundRect">
            <a:avLst>
              <a:gd name="adj" fmla="val 1758"/>
            </a:avLst>
          </a:prstGeom>
          <a:solidFill>
            <a:srgbClr val="16585A"/>
          </a:solidFill>
          <a:ln w="12700">
            <a:solidFill>
              <a:srgbClr val="2E7E7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67512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Açık Kaynak  ·  huggingface.co/turkmedstt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675120" y="2560320"/>
            <a:ext cx="146304" cy="14630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949440" y="24688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ve M2 modelleri  </a:t>
            </a:r>
            <a:r>
              <a:rPr lang="en-US" sz="1250" dirty="0">
                <a:solidFill>
                  <a:srgbClr val="B9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birleştirilmiş tam Whisper (Apache-2.0)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3218688"/>
            <a:ext cx="146304" cy="14630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949440" y="31272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medv3 veri seti  </a:t>
            </a:r>
            <a:r>
              <a:rPr lang="en-US" sz="1250" dirty="0">
                <a:solidFill>
                  <a:srgbClr val="B9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3.236 klip · sentetik · CC BY 4.0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3877056"/>
            <a:ext cx="146304" cy="14630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949440" y="37856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ASR benchmark  </a:t>
            </a:r>
            <a:r>
              <a:rPr lang="en-US" sz="1250" dirty="0">
                <a:solidFill>
                  <a:srgbClr val="B9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20 model × 1.060 klip metrikleri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4535424"/>
            <a:ext cx="146304" cy="14630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949440" y="444398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Space  </a:t>
            </a:r>
            <a:r>
              <a:rPr lang="en-US" sz="1250" dirty="0">
                <a:solidFill>
                  <a:srgbClr val="B9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Gradio ile canlı transkripsiyon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5193792"/>
            <a:ext cx="146304" cy="14630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949440" y="510235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Space  </a:t>
            </a:r>
            <a:r>
              <a:rPr lang="en-US" sz="1250" dirty="0">
                <a:solidFill>
                  <a:srgbClr val="B9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WER/CER/RTF sıralama ve filtre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TurkMedSTT · Bitirme Projesi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03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Kaynakça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Radford vd. (2023). Robust Speech Recognition via Large-Scale Weak Supervision (Whisper). ICML.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Hu vd. (2022). LoRA: Low-Rank Adaptation of Large Language Models. ICLR.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Vaswani vd. (2017). Attention Is All You Need. NeurIPS.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Baevski vd. (2020). wav2vec 2.0. NeurIPS.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Hsu vd. (2021). HuBERT. arXiv:2106.07447.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Conneau vd. (2021). XLSR: Unsupervised Cross-Lingual Representation Learning. arXiv:2006.13979.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Barrault vd. (2023). SeamlessM4T. arXiv:2308.11596.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55080" y="16916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Ardila vd. (2020). Common Voice. LREC.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Mussakhojayeva vd. (2023). Multilingual Speech Recognition for Turkic Languages. Information 14(2).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Safaya vd. (2022). Mukayese: Turkish NLP Strikes Back. arXiv:2203.01215.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Dettmers vd. (2023). QLoRA. NeurIPS.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Rosenberg vd. (2019). Speech Recognition with Augmented Synthesized Speech. arXiv:1909.11699.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Google Cloud (2026). Chirp 3: HD Voices.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03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Wolf vd. (2020). Transformers. EMNLP System Demos.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126480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kaynakça (36 referans) tez metninde yer almaktadır.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TurkMedSTT · Bitirme Projesi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1860</Words>
  <Application>Microsoft Office PowerPoint</Application>
  <PresentationFormat>Geniş ekran</PresentationFormat>
  <Paragraphs>257</Paragraphs>
  <Slides>15</Slides>
  <Notes>15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Muhammed Kumcu</cp:lastModifiedBy>
  <cp:revision>7</cp:revision>
  <dcterms:created xsi:type="dcterms:W3CDTF">2026-06-11T04:31:04Z</dcterms:created>
  <dcterms:modified xsi:type="dcterms:W3CDTF">2026-06-11T08:00:15Z</dcterms:modified>
</cp:coreProperties>
</file>